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60" r:id="rId5"/>
    <p:sldId id="259"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C52377CD-4B5C-4B45-A4D5-002AB12EE97B}" type="datetimeFigureOut">
              <a:rPr lang="en-IN" smtClean="0"/>
              <a:t>04-06-2026</a:t>
            </a:fld>
            <a:endParaRPr lang="en-IN"/>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A53E71D8-8687-4683-AB2B-AB713AB57A11}" type="slidenum">
              <a:rPr lang="en-IN" smtClean="0"/>
              <a:t>‹#›</a:t>
            </a:fld>
            <a:endParaRPr lang="en-IN"/>
          </a:p>
        </p:txBody>
      </p:sp>
    </p:spTree>
    <p:extLst>
      <p:ext uri="{BB962C8B-B14F-4D97-AF65-F5344CB8AC3E}">
        <p14:creationId xmlns:p14="http://schemas.microsoft.com/office/powerpoint/2010/main" val="2134545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52377CD-4B5C-4B45-A4D5-002AB12EE97B}" type="datetimeFigureOut">
              <a:rPr lang="en-IN" smtClean="0"/>
              <a:t>04-06-2026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558300" y="5956137"/>
            <a:ext cx="1052508" cy="365125"/>
          </a:xfrm>
        </p:spPr>
        <p:txBody>
          <a:bodyPr/>
          <a:lstStyle/>
          <a:p>
            <a:fld id="{A53E71D8-8687-4683-AB2B-AB713AB57A11}" type="slidenum">
              <a:rPr lang="en-IN" smtClean="0"/>
              <a:t>‹#›</a:t>
            </a:fld>
            <a:endParaRPr lang="en-IN"/>
          </a:p>
        </p:txBody>
      </p:sp>
    </p:spTree>
    <p:extLst>
      <p:ext uri="{BB962C8B-B14F-4D97-AF65-F5344CB8AC3E}">
        <p14:creationId xmlns:p14="http://schemas.microsoft.com/office/powerpoint/2010/main" val="3738873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52377CD-4B5C-4B45-A4D5-002AB12EE97B}" type="datetimeFigureOut">
              <a:rPr lang="en-IN" smtClean="0"/>
              <a:t>04-06-2026</a:t>
            </a:fld>
            <a:endParaRPr lang="en-IN"/>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A53E71D8-8687-4683-AB2B-AB713AB57A11}" type="slidenum">
              <a:rPr lang="en-IN" smtClean="0"/>
              <a:t>‹#›</a:t>
            </a:fld>
            <a:endParaRPr lang="en-IN"/>
          </a:p>
        </p:txBody>
      </p:sp>
    </p:spTree>
    <p:extLst>
      <p:ext uri="{BB962C8B-B14F-4D97-AF65-F5344CB8AC3E}">
        <p14:creationId xmlns:p14="http://schemas.microsoft.com/office/powerpoint/2010/main" val="2000039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52377CD-4B5C-4B45-A4D5-002AB12EE97B}" type="datetimeFigureOut">
              <a:rPr lang="en-IN" smtClean="0"/>
              <a:t>04-06-2026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53E71D8-8687-4683-AB2B-AB713AB57A11}" type="slidenum">
              <a:rPr lang="en-IN" smtClean="0"/>
              <a:t>‹#›</a:t>
            </a:fld>
            <a:endParaRPr lang="en-IN"/>
          </a:p>
        </p:txBody>
      </p:sp>
    </p:spTree>
    <p:extLst>
      <p:ext uri="{BB962C8B-B14F-4D97-AF65-F5344CB8AC3E}">
        <p14:creationId xmlns:p14="http://schemas.microsoft.com/office/powerpoint/2010/main" val="2930166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52377CD-4B5C-4B45-A4D5-002AB12EE97B}" type="datetimeFigureOut">
              <a:rPr lang="en-IN" smtClean="0"/>
              <a:t>04-06-2026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53E71D8-8687-4683-AB2B-AB713AB57A11}" type="slidenum">
              <a:rPr lang="en-IN" smtClean="0"/>
              <a:t>‹#›</a:t>
            </a:fld>
            <a:endParaRPr lang="en-IN"/>
          </a:p>
        </p:txBody>
      </p:sp>
    </p:spTree>
    <p:extLst>
      <p:ext uri="{BB962C8B-B14F-4D97-AF65-F5344CB8AC3E}">
        <p14:creationId xmlns:p14="http://schemas.microsoft.com/office/powerpoint/2010/main" val="3875969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52377CD-4B5C-4B45-A4D5-002AB12EE97B}" type="datetimeFigureOut">
              <a:rPr lang="en-IN" smtClean="0"/>
              <a:t>04-06-2026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53E71D8-8687-4683-AB2B-AB713AB57A11}" type="slidenum">
              <a:rPr lang="en-IN" smtClean="0"/>
              <a:t>‹#›</a:t>
            </a:fld>
            <a:endParaRPr lang="en-IN"/>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smtClean="0"/>
              <a:t>Click to edit Master title style</a:t>
            </a:r>
            <a:endParaRPr lang="en-US" dirty="0"/>
          </a:p>
        </p:txBody>
      </p:sp>
    </p:spTree>
    <p:extLst>
      <p:ext uri="{BB962C8B-B14F-4D97-AF65-F5344CB8AC3E}">
        <p14:creationId xmlns:p14="http://schemas.microsoft.com/office/powerpoint/2010/main" val="2936987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2377CD-4B5C-4B45-A4D5-002AB12EE97B}" type="datetimeFigureOut">
              <a:rPr lang="en-IN" smtClean="0"/>
              <a:t>04-06-2026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53E71D8-8687-4683-AB2B-AB713AB57A11}" type="slidenum">
              <a:rPr lang="en-IN" smtClean="0"/>
              <a:t>‹#›</a:t>
            </a:fld>
            <a:endParaRPr lang="en-IN"/>
          </a:p>
        </p:txBody>
      </p:sp>
    </p:spTree>
    <p:extLst>
      <p:ext uri="{BB962C8B-B14F-4D97-AF65-F5344CB8AC3E}">
        <p14:creationId xmlns:p14="http://schemas.microsoft.com/office/powerpoint/2010/main" val="12656517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52377CD-4B5C-4B45-A4D5-002AB12EE97B}" type="datetimeFigureOut">
              <a:rPr lang="en-IN" smtClean="0"/>
              <a:t>04-06-2026</a:t>
            </a:fld>
            <a:endParaRPr lang="en-IN"/>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A53E71D8-8687-4683-AB2B-AB713AB57A11}" type="slidenum">
              <a:rPr lang="en-IN" smtClean="0"/>
              <a:t>‹#›</a:t>
            </a:fld>
            <a:endParaRPr lang="en-IN"/>
          </a:p>
        </p:txBody>
      </p:sp>
    </p:spTree>
    <p:extLst>
      <p:ext uri="{BB962C8B-B14F-4D97-AF65-F5344CB8AC3E}">
        <p14:creationId xmlns:p14="http://schemas.microsoft.com/office/powerpoint/2010/main" val="3274778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C52377CD-4B5C-4B45-A4D5-002AB12EE97B}" type="datetimeFigureOut">
              <a:rPr lang="en-IN" smtClean="0"/>
              <a:t>04-06-2026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53E71D8-8687-4683-AB2B-AB713AB57A11}" type="slidenum">
              <a:rPr lang="en-IN" smtClean="0"/>
              <a:t>‹#›</a:t>
            </a:fld>
            <a:endParaRPr lang="en-IN"/>
          </a:p>
        </p:txBody>
      </p:sp>
    </p:spTree>
    <p:extLst>
      <p:ext uri="{BB962C8B-B14F-4D97-AF65-F5344CB8AC3E}">
        <p14:creationId xmlns:p14="http://schemas.microsoft.com/office/powerpoint/2010/main" val="1297491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52377CD-4B5C-4B45-A4D5-002AB12EE97B}" type="datetimeFigureOut">
              <a:rPr lang="en-IN" smtClean="0"/>
              <a:t>04-06-2026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3E71D8-8687-4683-AB2B-AB713AB57A11}" type="slidenum">
              <a:rPr lang="en-IN" smtClean="0"/>
              <a:t>‹#›</a:t>
            </a:fld>
            <a:endParaRPr lang="en-IN"/>
          </a:p>
        </p:txBody>
      </p:sp>
    </p:spTree>
    <p:extLst>
      <p:ext uri="{BB962C8B-B14F-4D97-AF65-F5344CB8AC3E}">
        <p14:creationId xmlns:p14="http://schemas.microsoft.com/office/powerpoint/2010/main" val="2486622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C52377CD-4B5C-4B45-A4D5-002AB12EE97B}" type="datetimeFigureOut">
              <a:rPr lang="en-IN" smtClean="0"/>
              <a:t>04-06-2026</a:t>
            </a:fld>
            <a:endParaRPr lang="en-IN"/>
          </a:p>
        </p:txBody>
      </p:sp>
      <p:sp>
        <p:nvSpPr>
          <p:cNvPr id="5" name="Footer Placeholder 4"/>
          <p:cNvSpPr>
            <a:spLocks noGrp="1"/>
          </p:cNvSpPr>
          <p:nvPr>
            <p:ph type="ftr" sz="quarter" idx="11"/>
          </p:nvPr>
        </p:nvSpPr>
        <p:spPr>
          <a:xfrm>
            <a:off x="774923" y="5951811"/>
            <a:ext cx="7896279" cy="365125"/>
          </a:xfrm>
        </p:spPr>
        <p:txBody>
          <a:bodyPr/>
          <a:lstStyle/>
          <a:p>
            <a:endParaRPr lang="en-IN"/>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A53E71D8-8687-4683-AB2B-AB713AB57A11}" type="slidenum">
              <a:rPr lang="en-IN" smtClean="0"/>
              <a:t>‹#›</a:t>
            </a:fld>
            <a:endParaRPr lang="en-IN"/>
          </a:p>
        </p:txBody>
      </p:sp>
    </p:spTree>
    <p:extLst>
      <p:ext uri="{BB962C8B-B14F-4D97-AF65-F5344CB8AC3E}">
        <p14:creationId xmlns:p14="http://schemas.microsoft.com/office/powerpoint/2010/main" val="8904752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C52377CD-4B5C-4B45-A4D5-002AB12EE97B}" type="datetimeFigureOut">
              <a:rPr lang="en-IN" smtClean="0"/>
              <a:t>04-06-2026</a:t>
            </a:fld>
            <a:endParaRPr lang="en-IN"/>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IN"/>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A53E71D8-8687-4683-AB2B-AB713AB57A11}" type="slidenum">
              <a:rPr lang="en-IN" smtClean="0"/>
              <a:t>‹#›</a:t>
            </a:fld>
            <a:endParaRPr lang="en-IN"/>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39562652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Text-Based Emotion Detection for Cybercrime Investigation</a:t>
            </a:r>
            <a:endParaRPr lang="en-IN" dirty="0"/>
          </a:p>
        </p:txBody>
      </p:sp>
      <p:sp>
        <p:nvSpPr>
          <p:cNvPr id="3" name="Subtitle 2"/>
          <p:cNvSpPr>
            <a:spLocks noGrp="1"/>
          </p:cNvSpPr>
          <p:nvPr>
            <p:ph type="subTitle" idx="1"/>
          </p:nvPr>
        </p:nvSpPr>
        <p:spPr>
          <a:xfrm>
            <a:off x="695494" y="3216414"/>
            <a:ext cx="10993546" cy="1162155"/>
          </a:xfrm>
        </p:spPr>
        <p:txBody>
          <a:bodyPr>
            <a:normAutofit/>
          </a:bodyPr>
          <a:lstStyle/>
          <a:p>
            <a:r>
              <a:rPr lang="en-IN" cap="none" dirty="0" err="1" smtClean="0">
                <a:solidFill>
                  <a:schemeClr val="bg1"/>
                </a:solidFill>
              </a:rPr>
              <a:t>Submited</a:t>
            </a:r>
            <a:r>
              <a:rPr lang="en-IN" cap="none" dirty="0" smtClean="0">
                <a:solidFill>
                  <a:schemeClr val="bg1"/>
                </a:solidFill>
              </a:rPr>
              <a:t> By :  Lovenesh Sharma</a:t>
            </a:r>
          </a:p>
          <a:p>
            <a:r>
              <a:rPr lang="en-IN" cap="none" dirty="0">
                <a:solidFill>
                  <a:schemeClr val="bg1"/>
                </a:solidFill>
              </a:rPr>
              <a:t> </a:t>
            </a:r>
            <a:r>
              <a:rPr lang="en-IN" cap="none" dirty="0" smtClean="0">
                <a:solidFill>
                  <a:schemeClr val="bg1"/>
                </a:solidFill>
              </a:rPr>
              <a:t>                    MCA Section -D	</a:t>
            </a:r>
          </a:p>
          <a:p>
            <a:r>
              <a:rPr lang="en-IN" cap="none" dirty="0">
                <a:solidFill>
                  <a:schemeClr val="bg1"/>
                </a:solidFill>
              </a:rPr>
              <a:t> </a:t>
            </a:r>
            <a:r>
              <a:rPr lang="en-IN" cap="none" dirty="0" smtClean="0">
                <a:solidFill>
                  <a:schemeClr val="bg1"/>
                </a:solidFill>
              </a:rPr>
              <a:t>                     (A010145024236)</a:t>
            </a:r>
            <a:endParaRPr lang="en-IN" cap="none" dirty="0">
              <a:solidFill>
                <a:schemeClr val="bg1"/>
              </a:solidFill>
            </a:endParaRPr>
          </a:p>
        </p:txBody>
      </p:sp>
      <p:pic>
        <p:nvPicPr>
          <p:cNvPr id="4" name="Picture 2" descr="Amity University, Noida - Wikipedia">
            <a:extLst>
              <a:ext uri="{FF2B5EF4-FFF2-40B4-BE49-F238E27FC236}">
                <a16:creationId xmlns:a16="http://schemas.microsoft.com/office/drawing/2014/main" id="{FBFEC806-18DB-F4D6-03B2-7E78739522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2264" y="709434"/>
            <a:ext cx="1362476" cy="1613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42462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INTRODUCTION</a:t>
            </a:r>
            <a:endParaRPr lang="en-IN" dirty="0"/>
          </a:p>
        </p:txBody>
      </p:sp>
      <p:sp>
        <p:nvSpPr>
          <p:cNvPr id="3" name="Content Placeholder 2"/>
          <p:cNvSpPr>
            <a:spLocks noGrp="1"/>
          </p:cNvSpPr>
          <p:nvPr>
            <p:ph idx="1"/>
          </p:nvPr>
        </p:nvSpPr>
        <p:spPr/>
        <p:txBody>
          <a:bodyPr>
            <a:normAutofit/>
          </a:bodyPr>
          <a:lstStyle/>
          <a:p>
            <a:pPr marL="0" indent="0">
              <a:buNone/>
            </a:pPr>
            <a:r>
              <a:rPr lang="en-US" dirty="0"/>
              <a:t>Cybercrime is increasing rapidly due to the growth of the internet and online communication platforms. Activities such as online threats, cyberbullying, hate speech, phishing, and harassment are commonly performed through chats, emails, and social media messages. These text messages act as important digital evidence during cybercrime investigations</a:t>
            </a:r>
            <a:r>
              <a:rPr lang="en-US" dirty="0" smtClean="0"/>
              <a:t>.</a:t>
            </a:r>
          </a:p>
          <a:p>
            <a:pPr marL="0" indent="0">
              <a:buNone/>
            </a:pPr>
            <a:endParaRPr lang="en-US" dirty="0" smtClean="0"/>
          </a:p>
          <a:p>
            <a:pPr marL="0" indent="0">
              <a:buNone/>
            </a:pPr>
            <a:r>
              <a:rPr lang="en-US" b="1" dirty="0"/>
              <a:t>Problem in Traditional Forensic </a:t>
            </a:r>
            <a:r>
              <a:rPr lang="en-US" b="1" dirty="0" smtClean="0"/>
              <a:t>Systems :- </a:t>
            </a:r>
            <a:r>
              <a:rPr lang="en-US" dirty="0" smtClean="0"/>
              <a:t>Traditional </a:t>
            </a:r>
            <a:r>
              <a:rPr lang="en-US" dirty="0"/>
              <a:t>forensic investigation systems mainly focus on technical details such as IP addresses, timestamps, device logs, and network records. Although these methods are useful for identifying suspicious activities, they often ignore the emotional intent hidden inside communication. As a result, investigators may miss important behavioral clues while analyzing digital evidence.</a:t>
            </a:r>
          </a:p>
          <a:p>
            <a:pPr marL="0" indent="0">
              <a:buNone/>
            </a:pPr>
            <a:endParaRPr lang="en-IN" dirty="0"/>
          </a:p>
        </p:txBody>
      </p:sp>
      <p:pic>
        <p:nvPicPr>
          <p:cNvPr id="4" name="Picture 2" descr="Amity University, Noida - Wikipedia">
            <a:extLst>
              <a:ext uri="{FF2B5EF4-FFF2-40B4-BE49-F238E27FC236}">
                <a16:creationId xmlns:a16="http://schemas.microsoft.com/office/drawing/2014/main" id="{FBFEC806-18DB-F4D6-03B2-7E78739522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48331" y="566689"/>
            <a:ext cx="1362476" cy="1613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98360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000" cap="none" dirty="0" smtClean="0"/>
              <a:t>O</a:t>
            </a:r>
            <a:r>
              <a:rPr lang="en-IN" dirty="0" smtClean="0"/>
              <a:t>bjective</a:t>
            </a:r>
            <a:endParaRPr lang="en-IN" dirty="0"/>
          </a:p>
        </p:txBody>
      </p:sp>
      <p:sp>
        <p:nvSpPr>
          <p:cNvPr id="3" name="Content Placeholder 2"/>
          <p:cNvSpPr>
            <a:spLocks noGrp="1"/>
          </p:cNvSpPr>
          <p:nvPr>
            <p:ph idx="1"/>
          </p:nvPr>
        </p:nvSpPr>
        <p:spPr/>
        <p:txBody>
          <a:bodyPr/>
          <a:lstStyle/>
          <a:p>
            <a:pPr marL="0" indent="0">
              <a:buNone/>
            </a:pPr>
            <a:r>
              <a:rPr lang="en-US" dirty="0"/>
              <a:t>The main objective of this project is to develop a text-based emotion and threat detection system that can support cybercrime investigation using Natural Language Processing (NLP) and Machine Learning techniques.</a:t>
            </a:r>
            <a:endParaRPr lang="en-US" b="1" dirty="0" smtClean="0"/>
          </a:p>
          <a:p>
            <a:r>
              <a:rPr lang="en-US" b="1" dirty="0" smtClean="0"/>
              <a:t>Emotion </a:t>
            </a:r>
            <a:r>
              <a:rPr lang="en-US" b="1" dirty="0"/>
              <a:t>Detection:</a:t>
            </a:r>
            <a:r>
              <a:rPr lang="en-US" dirty="0"/>
              <a:t> Analyze text messages, emails, chats, and social media posts to identify emotions such as anger, fear, joy, sadness, threat, and neutral</a:t>
            </a:r>
            <a:r>
              <a:rPr lang="en-US" dirty="0" smtClean="0"/>
              <a:t>.</a:t>
            </a:r>
          </a:p>
          <a:p>
            <a:r>
              <a:rPr lang="en-US" b="1" dirty="0"/>
              <a:t>Ensemble Learning:</a:t>
            </a:r>
            <a:r>
              <a:rPr lang="en-US" dirty="0"/>
              <a:t> Combine Logistic Regression, Random Forest, and SVM using a Soft Voting Ensemble approach to improve prediction accuracy and reliability</a:t>
            </a:r>
            <a:r>
              <a:rPr lang="en-US" dirty="0" smtClean="0"/>
              <a:t>.</a:t>
            </a:r>
          </a:p>
          <a:p>
            <a:r>
              <a:rPr lang="en-US" b="1" dirty="0"/>
              <a:t>Text Processing:</a:t>
            </a:r>
            <a:r>
              <a:rPr lang="en-US" dirty="0"/>
              <a:t> Use Natural Language Processing (NLP) and TF-IDF feature extraction to clean textual data and convert it into meaningful numerical features.</a:t>
            </a:r>
            <a:endParaRPr lang="en-IN" dirty="0"/>
          </a:p>
        </p:txBody>
      </p:sp>
      <p:pic>
        <p:nvPicPr>
          <p:cNvPr id="4" name="Picture 2" descr="Amity University, Noida - Wikipedia">
            <a:extLst>
              <a:ext uri="{FF2B5EF4-FFF2-40B4-BE49-F238E27FC236}">
                <a16:creationId xmlns:a16="http://schemas.microsoft.com/office/drawing/2014/main" id="{FBFEC806-18DB-F4D6-03B2-7E78739522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48331" y="566689"/>
            <a:ext cx="1362476" cy="1613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5197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Dataset description</a:t>
            </a:r>
            <a:endParaRPr lang="en-IN" dirty="0"/>
          </a:p>
        </p:txBody>
      </p:sp>
      <p:sp>
        <p:nvSpPr>
          <p:cNvPr id="3" name="Content Placeholder 2"/>
          <p:cNvSpPr>
            <a:spLocks noGrp="1"/>
          </p:cNvSpPr>
          <p:nvPr>
            <p:ph idx="1"/>
          </p:nvPr>
        </p:nvSpPr>
        <p:spPr/>
        <p:txBody>
          <a:bodyPr/>
          <a:lstStyle/>
          <a:p>
            <a:pPr marL="0" indent="0">
              <a:buNone/>
            </a:pPr>
            <a:r>
              <a:rPr lang="en-IN" dirty="0"/>
              <a:t>The proposed framework uses two open-source datasets:</a:t>
            </a:r>
          </a:p>
          <a:p>
            <a:r>
              <a:rPr lang="en-IN" dirty="0"/>
              <a:t>Wikipedia Detox Project Dataset </a:t>
            </a:r>
          </a:p>
          <a:p>
            <a:r>
              <a:rPr lang="en-IN" dirty="0"/>
              <a:t>Foundational Emotion Dataset (eng_dataset.csv)</a:t>
            </a:r>
          </a:p>
        </p:txBody>
      </p:sp>
      <p:pic>
        <p:nvPicPr>
          <p:cNvPr id="4" name="Picture 2" descr="Amity University, Noida - Wikipedia">
            <a:extLst>
              <a:ext uri="{FF2B5EF4-FFF2-40B4-BE49-F238E27FC236}">
                <a16:creationId xmlns:a16="http://schemas.microsoft.com/office/drawing/2014/main" id="{FBFEC806-18DB-F4D6-03B2-7E78739522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48331" y="566689"/>
            <a:ext cx="1362476" cy="1613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50234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Flow Diagram of project work</a:t>
            </a:r>
            <a:endParaRPr lang="en-IN"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890261" y="1819064"/>
            <a:ext cx="3798792" cy="5038936"/>
          </a:xfrm>
        </p:spPr>
      </p:pic>
      <p:pic>
        <p:nvPicPr>
          <p:cNvPr id="5" name="Picture 2" descr="Amity University, Noida - Wikipedia">
            <a:extLst>
              <a:ext uri="{FF2B5EF4-FFF2-40B4-BE49-F238E27FC236}">
                <a16:creationId xmlns:a16="http://schemas.microsoft.com/office/drawing/2014/main" id="{FBFEC806-18DB-F4D6-03B2-7E78739522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48331" y="566689"/>
            <a:ext cx="1362476" cy="1613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97079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methodology / approach</a:t>
            </a:r>
            <a:endParaRPr lang="en-IN" dirty="0"/>
          </a:p>
        </p:txBody>
      </p:sp>
      <p:sp>
        <p:nvSpPr>
          <p:cNvPr id="3" name="Content Placeholder 2"/>
          <p:cNvSpPr>
            <a:spLocks noGrp="1"/>
          </p:cNvSpPr>
          <p:nvPr>
            <p:ph idx="1"/>
          </p:nvPr>
        </p:nvSpPr>
        <p:spPr>
          <a:xfrm>
            <a:off x="581192" y="2315963"/>
            <a:ext cx="11029615" cy="4153092"/>
          </a:xfrm>
        </p:spPr>
        <p:txBody>
          <a:bodyPr>
            <a:normAutofit/>
          </a:bodyPr>
          <a:lstStyle/>
          <a:p>
            <a:r>
              <a:rPr lang="en-US" b="1" dirty="0"/>
              <a:t>Data </a:t>
            </a:r>
            <a:r>
              <a:rPr lang="en-US" b="1" dirty="0" smtClean="0"/>
              <a:t>Collection:</a:t>
            </a:r>
            <a:r>
              <a:rPr lang="en-US" dirty="0" smtClean="0"/>
              <a:t>-Text-based </a:t>
            </a:r>
            <a:r>
              <a:rPr lang="en-US" dirty="0"/>
              <a:t>datasets related to emotions and online threats were collected from open-source sources for training and testing the system</a:t>
            </a:r>
            <a:r>
              <a:rPr lang="en-US" dirty="0" smtClean="0"/>
              <a:t>.</a:t>
            </a:r>
          </a:p>
          <a:p>
            <a:r>
              <a:rPr lang="en-US" b="1" dirty="0"/>
              <a:t>Text </a:t>
            </a:r>
            <a:r>
              <a:rPr lang="en-US" b="1" dirty="0" smtClean="0"/>
              <a:t>Preprocessing:</a:t>
            </a:r>
            <a:r>
              <a:rPr lang="en-US" dirty="0" smtClean="0"/>
              <a:t>- The </a:t>
            </a:r>
            <a:r>
              <a:rPr lang="en-US" dirty="0"/>
              <a:t>raw text data was cleaned using NLP techniques such </a:t>
            </a:r>
            <a:r>
              <a:rPr lang="en-US" dirty="0" smtClean="0"/>
              <a:t>as: Lowercase conversion, URL removal, Punctuation removal,  </a:t>
            </a:r>
            <a:r>
              <a:rPr lang="en-US" dirty="0" err="1" smtClean="0"/>
              <a:t>Stopword</a:t>
            </a:r>
            <a:r>
              <a:rPr lang="en-US" dirty="0" smtClean="0"/>
              <a:t> removal, Noise </a:t>
            </a:r>
            <a:r>
              <a:rPr lang="en-US" dirty="0"/>
              <a:t>reduction </a:t>
            </a:r>
            <a:endParaRPr lang="en-US" dirty="0" smtClean="0"/>
          </a:p>
          <a:p>
            <a:r>
              <a:rPr lang="en-US" b="1" dirty="0"/>
              <a:t>Feature </a:t>
            </a:r>
            <a:r>
              <a:rPr lang="en-US" b="1" dirty="0" smtClean="0"/>
              <a:t>Extraction:</a:t>
            </a:r>
            <a:r>
              <a:rPr lang="en-US" dirty="0" smtClean="0"/>
              <a:t>- TF-IDF </a:t>
            </a:r>
            <a:r>
              <a:rPr lang="en-US" dirty="0"/>
              <a:t>(Term Frequency–Inverse Document Frequency) was applied to convert textual communication into numerical feature vectors for machine learning models</a:t>
            </a:r>
            <a:r>
              <a:rPr lang="en-US" dirty="0" smtClean="0"/>
              <a:t>.</a:t>
            </a:r>
          </a:p>
          <a:p>
            <a:r>
              <a:rPr lang="en-US" b="1" dirty="0"/>
              <a:t>Machine Learning </a:t>
            </a:r>
            <a:r>
              <a:rPr lang="en-US" b="1" dirty="0" smtClean="0"/>
              <a:t>Models:</a:t>
            </a:r>
            <a:r>
              <a:rPr lang="en-US" dirty="0" smtClean="0"/>
              <a:t>- Three </a:t>
            </a:r>
            <a:r>
              <a:rPr lang="en-US" dirty="0"/>
              <a:t>machine learning algorithms were </a:t>
            </a:r>
            <a:r>
              <a:rPr lang="en-US" dirty="0" smtClean="0"/>
              <a:t>implemented: Logistic </a:t>
            </a:r>
            <a:r>
              <a:rPr lang="en-US" dirty="0"/>
              <a:t>Regression (LR) </a:t>
            </a:r>
            <a:r>
              <a:rPr lang="en-US" dirty="0" smtClean="0"/>
              <a:t>,  Random </a:t>
            </a:r>
            <a:r>
              <a:rPr lang="en-US" dirty="0"/>
              <a:t>Forest (RF) </a:t>
            </a:r>
            <a:r>
              <a:rPr lang="en-US" dirty="0" smtClean="0"/>
              <a:t>, Support </a:t>
            </a:r>
            <a:r>
              <a:rPr lang="en-US" dirty="0"/>
              <a:t>Vector Machine (SVM</a:t>
            </a:r>
            <a:r>
              <a:rPr lang="en-US" dirty="0" smtClean="0"/>
              <a:t>)</a:t>
            </a:r>
          </a:p>
          <a:p>
            <a:r>
              <a:rPr lang="en-US" b="1" dirty="0"/>
              <a:t>Soft Voting </a:t>
            </a:r>
            <a:r>
              <a:rPr lang="en-US" b="1" dirty="0" smtClean="0"/>
              <a:t>Ensemble:</a:t>
            </a:r>
            <a:r>
              <a:rPr lang="en-US" dirty="0" smtClean="0"/>
              <a:t>- The </a:t>
            </a:r>
            <a:r>
              <a:rPr lang="en-US" dirty="0"/>
              <a:t>predictions from all three models were combined using a Soft Voting Ensemble </a:t>
            </a:r>
            <a:r>
              <a:rPr lang="en-US" dirty="0" err="1" smtClean="0"/>
              <a:t>approach.The</a:t>
            </a:r>
            <a:r>
              <a:rPr lang="en-US" dirty="0" smtClean="0"/>
              <a:t> </a:t>
            </a:r>
            <a:r>
              <a:rPr lang="en-US" dirty="0"/>
              <a:t>final emotion class was selected based on the highest average probability score.</a:t>
            </a:r>
          </a:p>
          <a:p>
            <a:endParaRPr lang="en-US" dirty="0"/>
          </a:p>
          <a:p>
            <a:pPr marL="0" indent="0">
              <a:buNone/>
            </a:pPr>
            <a:endParaRPr lang="en-IN" dirty="0"/>
          </a:p>
        </p:txBody>
      </p:sp>
      <p:pic>
        <p:nvPicPr>
          <p:cNvPr id="4" name="Picture 2" descr="Amity University, Noida - Wikipedia">
            <a:extLst>
              <a:ext uri="{FF2B5EF4-FFF2-40B4-BE49-F238E27FC236}">
                <a16:creationId xmlns:a16="http://schemas.microsoft.com/office/drawing/2014/main" id="{FBFEC806-18DB-F4D6-03B2-7E78739522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48331" y="566689"/>
            <a:ext cx="1362476" cy="1613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91868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Research Paper status</a:t>
            </a:r>
            <a:endParaRPr lang="en-IN" dirty="0"/>
          </a:p>
        </p:txBody>
      </p:sp>
      <p:sp>
        <p:nvSpPr>
          <p:cNvPr id="3" name="Content Placeholder 2"/>
          <p:cNvSpPr>
            <a:spLocks noGrp="1"/>
          </p:cNvSpPr>
          <p:nvPr>
            <p:ph idx="1"/>
          </p:nvPr>
        </p:nvSpPr>
        <p:spPr/>
        <p:txBody>
          <a:bodyPr/>
          <a:lstStyle/>
          <a:p>
            <a:r>
              <a:rPr lang="en-IN" dirty="0" smtClean="0"/>
              <a:t>Submitted at:- Amity 2</a:t>
            </a:r>
            <a:r>
              <a:rPr lang="en-IN" baseline="30000" dirty="0" smtClean="0"/>
              <a:t>nd</a:t>
            </a:r>
            <a:r>
              <a:rPr lang="en-IN" dirty="0" smtClean="0"/>
              <a:t> Research Conclave in 2026</a:t>
            </a:r>
            <a:endParaRPr lang="en-IN" dirty="0"/>
          </a:p>
        </p:txBody>
      </p:sp>
      <p:pic>
        <p:nvPicPr>
          <p:cNvPr id="4" name="Picture 2" descr="Amity University, Noida - Wikipedia">
            <a:extLst>
              <a:ext uri="{FF2B5EF4-FFF2-40B4-BE49-F238E27FC236}">
                <a16:creationId xmlns:a16="http://schemas.microsoft.com/office/drawing/2014/main" id="{FBFEC806-18DB-F4D6-03B2-7E78739522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48331" y="566689"/>
            <a:ext cx="1362476" cy="1613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18511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a:stretch>
            <a:fillRect/>
          </a:stretch>
        </p:blipFill>
        <p:spPr>
          <a:xfrm>
            <a:off x="656666" y="1793631"/>
            <a:ext cx="5222631" cy="4950069"/>
          </a:xfrm>
          <a:prstGeom prst="rect">
            <a:avLst/>
          </a:prstGeom>
        </p:spPr>
      </p:pic>
      <p:pic>
        <p:nvPicPr>
          <p:cNvPr id="5" name="Picture 4"/>
          <p:cNvPicPr/>
          <p:nvPr/>
        </p:nvPicPr>
        <p:blipFill>
          <a:blip r:embed="rId3"/>
          <a:stretch>
            <a:fillRect/>
          </a:stretch>
        </p:blipFill>
        <p:spPr>
          <a:xfrm>
            <a:off x="5879297" y="1793631"/>
            <a:ext cx="5731510" cy="5081954"/>
          </a:xfrm>
          <a:prstGeom prst="rect">
            <a:avLst/>
          </a:prstGeom>
        </p:spPr>
      </p:pic>
      <p:pic>
        <p:nvPicPr>
          <p:cNvPr id="6" name="Picture 2" descr="Amity University, Noida - Wikipedia">
            <a:extLst>
              <a:ext uri="{FF2B5EF4-FFF2-40B4-BE49-F238E27FC236}">
                <a16:creationId xmlns:a16="http://schemas.microsoft.com/office/drawing/2014/main" id="{FBFEC806-18DB-F4D6-03B2-7E7873952261}"/>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0" b="100000" l="971" r="100000">
                        <a14:foregroundMark x1="62621" y1="11885" x2="62621" y2="11885"/>
                        <a14:foregroundMark x1="62621" y1="11885" x2="62621" y2="11885"/>
                        <a14:foregroundMark x1="18447" y1="13934" x2="79126" y2="13525"/>
                        <a14:foregroundMark x1="9709" y1="31967" x2="10680" y2="30328"/>
                        <a14:foregroundMark x1="4854" y1="40574" x2="4854" y2="40574"/>
                        <a14:foregroundMark x1="4854" y1="37295" x2="89806" y2="12705"/>
                        <a14:foregroundMark x1="89806" y1="12705" x2="89806" y2="12705"/>
                        <a14:foregroundMark x1="5825" y1="16803" x2="91748" y2="21721"/>
                        <a14:foregroundMark x1="12621" y1="12295" x2="48544" y2="5328"/>
                        <a14:foregroundMark x1="26699" y1="5328" x2="4369" y2="9426"/>
                        <a14:foregroundMark x1="54369" y1="4098" x2="95146" y2="10246"/>
                        <a14:foregroundMark x1="7282" y1="40574" x2="2427" y2="20082"/>
                        <a14:foregroundMark x1="95631" y1="25410" x2="47573" y2="27049"/>
                        <a14:foregroundMark x1="93689" y1="19262" x2="99515" y2="23361"/>
                        <a14:foregroundMark x1="96602" y1="35246" x2="95146" y2="70492"/>
                        <a14:foregroundMark x1="7282" y1="45492" x2="7282" y2="73361"/>
                        <a14:foregroundMark x1="2913" y1="45492" x2="6796" y2="75410"/>
                        <a14:foregroundMark x1="6796" y1="76639" x2="36893" y2="93852"/>
                        <a14:foregroundMark x1="37864" y1="95082" x2="76214" y2="68852"/>
                        <a14:foregroundMark x1="39806" y1="36885" x2="59709" y2="80738"/>
                        <a14:foregroundMark x1="47573" y1="34426" x2="55340" y2="60246"/>
                        <a14:foregroundMark x1="46602" y1="66393" x2="51942" y2="77049"/>
                        <a14:foregroundMark x1="11650" y1="26639" x2="25243" y2="20492"/>
                        <a14:foregroundMark x1="50000" y1="91803" x2="81068" y2="84016"/>
                        <a14:foregroundMark x1="97087" y1="68443" x2="98544" y2="48770"/>
                        <a14:foregroundMark x1="22816" y1="29098" x2="46602" y2="11885"/>
                      </a14:backgroundRemoval>
                    </a14:imgEffect>
                  </a14:imgLayer>
                </a14:imgProps>
              </a:ext>
              <a:ext uri="{28A0092B-C50C-407E-A947-70E740481C1C}">
                <a14:useLocalDpi xmlns:a14="http://schemas.microsoft.com/office/drawing/2010/main" val="0"/>
              </a:ext>
            </a:extLst>
          </a:blip>
          <a:srcRect/>
          <a:stretch>
            <a:fillRect/>
          </a:stretch>
        </p:blipFill>
        <p:spPr bwMode="auto">
          <a:xfrm>
            <a:off x="10420690" y="390844"/>
            <a:ext cx="1362476" cy="1613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73194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208112" y="2967335"/>
            <a:ext cx="3775777" cy="923330"/>
          </a:xfrm>
          <a:prstGeom prst="rect">
            <a:avLst/>
          </a:prstGeom>
          <a:noFill/>
        </p:spPr>
        <p:txBody>
          <a:bodyPr wrap="none" lIns="91440" tIns="45720" rIns="91440" bIns="45720">
            <a:spAutoFit/>
          </a:bodyPr>
          <a:lstStyle/>
          <a:p>
            <a:pPr algn="ctr"/>
            <a:r>
              <a:rPr lang="en-US" sz="5400" b="1" cap="none" spc="0"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Thank you </a:t>
            </a:r>
            <a:endPar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pic>
        <p:nvPicPr>
          <p:cNvPr id="5" name="Picture 2" descr="Amity University, Noida - Wikipedia">
            <a:extLst>
              <a:ext uri="{FF2B5EF4-FFF2-40B4-BE49-F238E27FC236}">
                <a16:creationId xmlns:a16="http://schemas.microsoft.com/office/drawing/2014/main" id="{FBFEC806-18DB-F4D6-03B2-7E78739522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48331" y="566689"/>
            <a:ext cx="1362476" cy="1613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6571784"/>
      </p:ext>
    </p:extLst>
  </p:cSld>
  <p:clrMapOvr>
    <a:masterClrMapping/>
  </p:clrMapOvr>
  <p:timing>
    <p:tnLst>
      <p:par>
        <p:cTn id="1" dur="indefinite" restart="never" nodeType="tmRoot"/>
      </p:par>
    </p:tnLst>
  </p:timing>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docProps/app.xml><?xml version="1.0" encoding="utf-8"?>
<Properties xmlns="http://schemas.openxmlformats.org/officeDocument/2006/extended-properties" xmlns:vt="http://schemas.openxmlformats.org/officeDocument/2006/docPropsVTypes">
  <Template>Dividend</Template>
  <TotalTime>152</TotalTime>
  <Words>439</Words>
  <Application>Microsoft Office PowerPoint</Application>
  <PresentationFormat>Widescreen</PresentationFormat>
  <Paragraphs>27</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Gill Sans MT</vt:lpstr>
      <vt:lpstr>Wingdings 2</vt:lpstr>
      <vt:lpstr>Dividend</vt:lpstr>
      <vt:lpstr>Text-Based Emotion Detection for Cybercrime Investigation</vt:lpstr>
      <vt:lpstr>INTRODUCTION</vt:lpstr>
      <vt:lpstr>Objective</vt:lpstr>
      <vt:lpstr>Dataset description</vt:lpstr>
      <vt:lpstr>Flow Diagram of project work</vt:lpstr>
      <vt:lpstr>methodology / approach</vt:lpstr>
      <vt:lpstr>Research Paper status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Text-Based Emotion Detection for Cybercrime Investigation</dc:title>
  <dc:creator>lovenesh sharma</dc:creator>
  <cp:lastModifiedBy>lovenesh sharma</cp:lastModifiedBy>
  <cp:revision>13</cp:revision>
  <dcterms:created xsi:type="dcterms:W3CDTF">2026-06-03T16:34:53Z</dcterms:created>
  <dcterms:modified xsi:type="dcterms:W3CDTF">2026-06-04T09:32:42Z</dcterms:modified>
</cp:coreProperties>
</file>